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1097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600" b="1">
                <a:solidFill>
                  <a:srgbClr val="0F172A"/>
                </a:solidFill>
              </a:defRPr>
            </a:pPr>
            <a:r>
              <a:t>La Brecha de Prosperidad Europea</a:t>
            </a:r>
          </a:p>
          <a:p>
            <a:pPr>
              <a:spcAft>
                <a:spcPts val="1600"/>
              </a:spcAft>
              <a:defRPr sz="1800">
                <a:solidFill>
                  <a:srgbClr val="00629B"/>
                </a:solidFill>
              </a:defRPr>
            </a:pPr>
            <a:r>
              <a:t>Asimetrías Territoriales y Distribución de Riqueza en 39 Naciones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Un análisis empírico sobre la desconexión entre masa económica agregada y bienestar ciudadano real.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728655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66344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284C7"/>
                </a:solidFill>
              </a:defRPr>
            </a:pPr>
            <a:r>
              <a:t>DEMO DAY 1  |  SPRINT 1: EL ARTE DE LOS DATOS ESTÁTICOS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Autor: Javier  •  Asignatura: Visualización y Análisis de Datos (VAD)  •  Universidad Politécnica de Madrid (UPM)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Dataset: europe.geojson (39 países)  •  Stack: Python, GeoPandas, Matplotlib &amp; Seaborn (Clean Script)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CONTEXTO SITUACIONAL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El Reto de la Cohesión Territorial en Europa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Por qué los indicadores agregados enmascaran la realidad económica del continente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712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0284C7"/>
                </a:solidFill>
              </a:defRPr>
            </a:pPr>
            <a:r>
              <a:t>1. LA PREGUNTA CENTRAL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¿Refleja el PIB nacional bruto la calidad de vida de los ciudadanos?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Las métricas agregadas sitúan a Europa como una de las regiones más ricas del planeta, pero ocultan una dispersión extrema en la capacidad adquisitiva real por habitante.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03120"/>
            <a:ext cx="28712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0284C7"/>
                </a:solidFill>
              </a:defRPr>
            </a:pPr>
            <a:r>
              <a:t>2. OBJETIVOS DE INVESTIGACIÓN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Cuantificar la fractura este-oeste y el desacoplamiento de escala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Contrastar si el tamaño demográfico/económico garantiza bienestar individual.</a:t>
            </a:r>
            <a:br/>
            <a:r>
              <a:t>• Evaluar la validez de la media aritmética como baremo para fondos de cohesión.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182880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2103120"/>
            <a:ext cx="28712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0284C7"/>
                </a:solidFill>
              </a:defRPr>
            </a:pPr>
            <a:r>
              <a:t>3. CRITERIO METODOLÓGICO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Visualización explicativa rigurosa y libre de ruido (Decluttering)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Eliminación total de bordes y leyendas complejas mediante anotaciones directas.</a:t>
            </a:r>
            <a:br/>
            <a:r>
              <a:t>• Foco preatencional estricto: contraste cromático directo sobre las anomalías.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DIMENSIÓN ESPACIAL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La Fractura Territorial de Europa: Eje Central vs. Periferia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Mapa coroplético del PIB per cápita con anotaciones directas y mitigación de sesgos</a:t>
            </a:r>
          </a:p>
        </p:txBody>
      </p:sp>
      <p:pic>
        <p:nvPicPr>
          <p:cNvPr id="6" name="Picture 5" descr="grafico_1_mapa_euro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949440" cy="542784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91640"/>
            <a:ext cx="350215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HALLAZGOS CLAVE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Concentración de Prosperidad:</a:t>
            </a:r>
            <a:br/>
            <a:r>
              <a:t>El bloque central y nórdico (Suiza, Luxemburgo, Noruega, Dinamarca) supera con holgura los $60.000 de renta anual por habitante.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• Franja de Vulnerabilidad:</a:t>
            </a:r>
            <a:br/>
            <a:r>
              <a:t>Los Balcanes y Ucrania registran rentas inferiores a los $10.000 anuales, conformando una periferia estructuralmente descolgada.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</a:defRPr>
            </a:pPr>
            <a:r>
              <a:t>DECISIONES DE DISEÑO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Rusia en gris neutro: Se neutraliza para evitar que su inmensa masa territorial distorsione la percepción cromática del continente.</a:t>
            </a:r>
            <a:br/>
            <a:r>
              <a:t>• Anotaciones directas in-situ para suprimir leyendas flotantes.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MAGNITUD DE LA BRECHA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Polarización Crítica: Top 5 frente al Bottom 5 Continental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Contraste del PIB per cápita con barras horizontales y rotulado directo de valores</a:t>
            </a:r>
          </a:p>
        </p:txBody>
      </p:sp>
      <p:pic>
        <p:nvPicPr>
          <p:cNvPr id="6" name="Picture 5" descr="grafico_2_brecha_extrem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949440" cy="436156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91640"/>
            <a:ext cx="350215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2121"/>
                </a:solidFill>
              </a:defRPr>
            </a:pPr>
            <a:r>
              <a:t>DISPARIDAD DE 33 A 1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El Abismo de Ingresos:</a:t>
            </a:r>
            <a:br/>
            <a:r>
              <a:t>Un habitante en Luxemburgo (~$114k) genera 33 veces más renta anual que un habitante en Ucrania (~$3.5k).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• Homogeneidad en el Rezagamiento:</a:t>
            </a:r>
            <a:br/>
            <a:r>
              <a:t>El Bottom 5 completo (Ucrania, Moldavia, Kosovo, Albania, Macedonia) no supera los $6.5k anuales por persona.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</a:defRPr>
            </a:pPr>
            <a:r>
              <a:t>DECISIONES DE DISEÑO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Barras horizontales: Eliminan el cuello torcido y permiten leer los nombres sin inclinación.</a:t>
            </a:r>
            <a:br/>
            <a:r>
              <a:t>• Foco preatencional: Colores intensos en el líder y el rezagado; tonos pastel para el resto.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ESTRUCTURA MACROECONÓMICA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Volumen Nacional vs. Bienestar Individual: La Disociación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Relación bivariada entre tamaño demográfico, masa productiva total y PIB per cápita</a:t>
            </a:r>
          </a:p>
        </p:txBody>
      </p:sp>
      <p:pic>
        <p:nvPicPr>
          <p:cNvPr id="6" name="Picture 5" descr="grafico_3_dispersion_pib_pob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949440" cy="48093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91640"/>
            <a:ext cx="350215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284C7"/>
                </a:solidFill>
              </a:defRPr>
            </a:pPr>
            <a:r>
              <a:t>DESACOPLAMIENTO DE ESCALA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Potencias Industriales:</a:t>
            </a:r>
            <a:br/>
            <a:r>
              <a:t>Alemania, Reino Unido, Francia e Italia acumulan la mayor masa económica total, pero presentan rentas intermedias ($40k-$50k).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• Especialización Eficiente:</a:t>
            </a:r>
            <a:br/>
            <a:r>
              <a:t>Los países con mayor renta por persona (Suiza, Luxemburgo, Noruega) no son gigantes demográficos, sino economías hiper-especializadas.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</a:defRPr>
            </a:pPr>
            <a:r>
              <a:t>DECISIONES DE DISEÑO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Anotaciones directas con flechas: Rotulación limpia sólo sobre las naciones estratégicas.</a:t>
            </a:r>
            <a:br/>
            <a:r>
              <a:t>• Barra continua lateral de color sin contorno exterior (Tufte).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DIAGNÓSTICO ESTADÍSTICO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La Falacia de la Media: Distribución Sesgada del Bienestar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Histograma y estimación de densidad KDE demostrando el sesgo positivo del PIB per cápita</a:t>
            </a:r>
          </a:p>
        </p:txBody>
      </p:sp>
      <p:pic>
        <p:nvPicPr>
          <p:cNvPr id="6" name="Picture 5" descr="grafico_4_distribucion_ses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6949440" cy="43556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691640"/>
            <a:ext cx="3502152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920240"/>
            <a:ext cx="295351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2121"/>
                </a:solidFill>
              </a:defRPr>
            </a:pPr>
            <a:r>
              <a:t>EL 64% BAJO LA MEDIA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Sesgo Positivo Pronunciado:</a:t>
            </a:r>
            <a:br/>
            <a:r>
              <a:t>La media continental ($36.9k) está artificialmente inflada por outliers financieros extremos (Luxemburgo, Suiza).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• La Mediana como Realidad:</a:t>
            </a:r>
            <a:br/>
            <a:r>
              <a:t>El país representativo europeo se sitúa en $24.7k. Casi dos tercios (64%) de las naciones quedan por debajo del promedio oficial.</a:t>
            </a:r>
          </a:p>
          <a:p>
            <a:pPr>
              <a:spcAft>
                <a:spcPts val="400"/>
              </a:spcAft>
              <a:defRPr sz="950" b="1">
                <a:solidFill>
                  <a:srgbClr val="64748B"/>
                </a:solidFill>
              </a:defRPr>
            </a:pPr>
            <a:r>
              <a:t>DECISIONES DE DISEÑO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Líneas de corte explícitas: Diferenciación semántica inmediata entre media (azul continua) y mediana (roja discontinua) sin leyendas.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SÍNTESIS EJECUTIVA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Conclusiones y Recomendaciones de Política Pública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Propuestas concretas para la reasignación eficiente de fondos de cohesión comunitaria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 b="1">
                <a:solidFill>
                  <a:srgbClr val="0284C7"/>
                </a:solidFill>
              </a:defRPr>
            </a:pPr>
            <a:r>
              <a:t>TRES CONCLUSIONES EMPÍRICAS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1. Disparidad Crítica (33x):</a:t>
            </a:r>
            <a:br/>
            <a:r>
              <a:t>Europa no es un bloque homogéneo; coexisten estándares de máxima prosperidad global con bolsas de precariedad en el sureste continental.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</a:defRPr>
            </a:pPr>
            <a:r>
              <a:t>2. Desconexión Volumen / Bienestar:</a:t>
            </a:r>
            <a:br/>
            <a:r>
              <a:t>El tamaño económico nacional bruto no garantiza riqueza ciudadana. Las naciones intermedias especializadas ofrecen mayores rentas.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3. Inadecuación de la Media:</a:t>
            </a:r>
            <a:br/>
            <a:r>
              <a:t>Con un 64% de países bajo el promedio, basar los diagnósticos en la media induce a decisiones presupuestarias distorsionadas.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057400"/>
            <a:ext cx="4617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50" b="1">
                <a:solidFill>
                  <a:srgbClr val="D92121"/>
                </a:solidFill>
              </a:defRPr>
            </a:pPr>
            <a:r>
              <a:t>LLAMADA A LA ACCIÓN (POLÍTICAS PÚBLICAS)</a:t>
            </a:r>
          </a:p>
          <a:p>
            <a:pPr>
              <a:spcAft>
                <a:spcPts val="1800"/>
              </a:spcAft>
              <a:defRPr sz="1150">
                <a:solidFill>
                  <a:srgbClr val="0F172A"/>
                </a:solidFill>
              </a:defRPr>
            </a:pPr>
            <a:r>
              <a:t>• Baremo basado en la Mediana Continental:</a:t>
            </a:r>
            <a:br/>
            <a:r>
              <a:t>Reestructurar los criterios de asignación de los Fondos Estructurales utilizando la distancia a la mediana ($24.7k), protegiendo la asignación a las naciones de renta real media-baja.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Inversión Focalizada en el Eje Balcánico:</a:t>
            </a:r>
            <a:br/>
            <a:r>
              <a:t>Priorizar ayudas comunitarias en modernización industrial, conectividad e infraestructuras digitales en la franja oriental para frenar la fuga de talento y la polarización regional.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RIGOR TÉCNICO Y METODOLÓGICO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Pipeline de Visualización y Transparencia de Herramientas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Cumplimiento explícito de los requisitos de reproducibilidad y rúbricas del Demo Day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8712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0284C7"/>
                </a:solidFill>
              </a:defRPr>
            </a:pPr>
            <a:r>
              <a:t>PIPELINE TÉCNICO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Script Reproducible lab_sol.py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Programación estructurada y modular con ejecución integral directa.</a:t>
            </a:r>
            <a:br/>
            <a:r>
              <a:t>• Exportación dual: .pdf vectorial sin pérdida y .png a 300 DPI.</a:t>
            </a:r>
            <a:br/>
            <a:r>
              <a:t>• API orientada a objetos (fig, ax = plt.subplots).</a:t>
            </a:r>
            <a:br/>
            <a:r>
              <a:t>• Control fino de paletas sin leyendas redundantes.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82880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54296" y="2103120"/>
            <a:ext cx="28712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0284C7"/>
                </a:solidFill>
              </a:defRPr>
            </a:pPr>
            <a:r>
              <a:t>PRINCIPIOS DE DISEÑO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Edward Tufte &amp; Gestalt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Decluttering estricto: sns.despine() en todas las gráficas.</a:t>
            </a:r>
            <a:br/>
            <a:r>
              <a:t>• Eliminación del efecto cuello torcido mediante barras horizontales.</a:t>
            </a:r>
            <a:br/>
            <a:r>
              <a:t>• Maximización del Data-Ink Ratio.</a:t>
            </a:r>
            <a:br/>
            <a:r>
              <a:t>• Atributos preatencionales: Color selectivo sobre anomalías.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1" y="1828800"/>
            <a:ext cx="3328416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2103120"/>
            <a:ext cx="287121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50" b="1">
                <a:solidFill>
                  <a:srgbClr val="0284C7"/>
                </a:solidFill>
              </a:defRPr>
            </a:pPr>
            <a:r>
              <a:t>DECLARACIÓN DE IA</a:t>
            </a:r>
          </a:p>
          <a:p>
            <a:pPr>
              <a:spcAft>
                <a:spcPts val="1200"/>
              </a:spcAft>
              <a:defRPr sz="1300" b="1">
                <a:solidFill>
                  <a:srgbClr val="0F172A"/>
                </a:solidFill>
              </a:defRPr>
            </a:pPr>
            <a:r>
              <a:t>Uso Transparente de Herramientas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Herramienta: Antigravity (Google DeepMind).</a:t>
            </a:r>
            <a:br/>
            <a:r>
              <a:t>• Alcance: Asistencia en la optimización de código, estructuración analítica de la narrativa y verificación de estándares visuales de la rúbrica oficial.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