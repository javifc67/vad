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[0:00 - 0:40 | 40 segundos] - APERTURA Y ENGANCHE NARRATIVO</a:t>
            </a:r>
          </a:p>
          <a:p>
            <a:r>
              <a:t>"Buenos días a todos y al tribunal evaluador.</a:t>
            </a:r>
          </a:p>
          <a:p/>
          <a:p>
            <a:r>
              <a:t>Europa proyecta hacia el exterior la imagen de un continente homogéneo, desarrollado y próspero. Nos acostumbramos a escuchar discursos sobre cohesión comunitaria y grandes cifras macroeconómicas agregadas.</a:t>
            </a:r>
          </a:p>
          <a:p/>
          <a:p>
            <a:r>
              <a:t>Pero cuando dejamos de abrir ostras de forma caótica y pulimos los datos con rigor, esa imagen se desmorona.</a:t>
            </a:r>
          </a:p>
          <a:p/>
          <a:p>
            <a:r>
              <a:t>Hoy no vengo a mostrar una galería de gráficos aislados, sino una historia con principio, nudo y desenlace articulada en tres revelaciones contundentes: la frontera invisible del abismo territorial, el mito de los gigantes económicos y la gran trampa estadística que engaña a las políticas de todo el continente.</a:t>
            </a:r>
          </a:p>
          <a:p/>
          <a:p>
            <a:r>
              <a:t>Comencemos por el primer enigma: la fractura geográfica."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[0:40 - 1:30 | 50 segundos] - PILAR 1 (PARTE 1)</a:t>
            </a:r>
          </a:p>
          <a:p>
            <a:r>
              <a:t>"Nuestra primera revelación es espacial. Miren este mapa de Europa: desmiente de inmediato cualquier noción de equilibrio continental.</a:t>
            </a:r>
          </a:p>
          <a:p/>
          <a:p>
            <a:r>
              <a:t>Existe una frontera económica invisible pero implacable. En el corazón occidental y en los países nórdicos, la renta por habitante supera con soltura los 60.000 dólares. Pero si desplazamos la vista hacia el sureste y los Balcanes, la renta se desploma por debajo de los 10.000 dólares.</a:t>
            </a:r>
          </a:p>
          <a:p/>
          <a:p>
            <a:r>
              <a:t>A nivel de diseño visual, apliqué un criterio Gestalt fundamental: Rusia posee la mayor superficie del continente, pero incluirla en la rampa de color habría falseado por completo la percepción de las otras 38 naciones. Por eso la desacoplé en gris neutro: los datos deben iluminar el patrón relevante, no el tamaño del mapa.</a:t>
            </a:r>
          </a:p>
          <a:p/>
          <a:p>
            <a:r>
              <a:t>Pero, ¿cuán profunda es realmente esta brecha? Pasemos a cuantificarla en los extremos."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[1:30 - 2:20 | 50 segundos] - PILAR 1 (PARTE 2)</a:t>
            </a:r>
          </a:p>
          <a:p>
            <a:r>
              <a:t>"Para entender la magnitud real de esta frontera invisible, enfrentamos a las cinco economías más ricas contra las cinco más rezagadas.</a:t>
            </a:r>
          </a:p>
          <a:p/>
          <a:p>
            <a:r>
              <a:t>Y aquí estalla la primera cifra de impacto: treinta y tres a uno.</a:t>
            </a:r>
          </a:p>
          <a:p/>
          <a:p>
            <a:r>
              <a:t>Un habitante de Luxemburgo, con más de 130.000 dólares anuales, genera lo mismo que treinta y tres habitantes de Ucrania juntos. Ningún territorio que aspire a llamarse cohesionado puede convivir pacíficamente con una brecha de este calibre.</a:t>
            </a:r>
          </a:p>
          <a:p/>
          <a:p>
            <a:r>
              <a:t>Observen la ergonomía del gráfico: barras horizontales limpias, eliminación total del eje inferior y de las cuatro espinas de la gráfica, y rotulación directa del dato en miles de dólares. El uso de color es estrictamente preatencional: el azul profundo guía el ojo al récord absoluto, y el rojo alerta señala la herida abierta de la vulnerabilidad.</a:t>
            </a:r>
          </a:p>
          <a:p/>
          <a:p>
            <a:r>
              <a:t>Pero ante esto surge una pregunta lógica: ¿acaso los países más grandes y poderosos son los que garantizan más riqueza a su gente? Pasemos a la segunda revelación."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[2:20 - 3:10 | 50 segundos] - PILAR 2</a:t>
            </a:r>
          </a:p>
          <a:p>
            <a:r>
              <a:t>"Llegamos a la segunda revelación: el mito de los gigantes.</a:t>
            </a:r>
          </a:p>
          <a:p/>
          <a:p>
            <a:r>
              <a:t>Existe la creencia arraigada de que pertenecer a una potencia económica con un PIB gigantesco garantiza un nivel de vida superior. Este diagrama de dispersión bivariada demuestra que esa premisa es falsa.</a:t>
            </a:r>
          </a:p>
          <a:p/>
          <a:p>
            <a:r>
              <a:t>En el eje horizontal situamos la población; en el vertical, el PIB total; y el color azul mide la renta real por persona.</a:t>
            </a:r>
          </a:p>
          <a:p/>
          <a:p>
            <a:r>
              <a:t>Observen el cuadrante superior derecho: Alemania, Reino Unido, Francia o Rusia concentran casi toda la masa económica continental simplemente porque son muchos millones de habitantes. Pero si buscan a los verdaderos líderes en bienestar —Suiza, Luxemburgo o Noruega— no están con los gigantes. Están abajo a la izquierda: países compactos, demográficamente moderados, pero con una densidad cromática de renta máxima.</a:t>
            </a:r>
          </a:p>
          <a:p/>
          <a:p>
            <a:r>
              <a:t>Para evitar el ruido visual, etiqueté con precisión matemática solo a nueve países estratégicos. La conclusión es contundente: el volumen agregado es una ilusión de poder, pero la especialización inteligente es la que genera calidad de vida.</a:t>
            </a:r>
          </a:p>
          <a:p/>
          <a:p>
            <a:r>
              <a:t>Y ahora, prepárense para el clímax de esta historia: la gran trampa de la media."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[3:10 - 4:10 | 60 segundos] - PILAR 3 (CLÍMAX METODOLÓGICO)</a:t>
            </a:r>
          </a:p>
          <a:p>
            <a:r>
              <a:t>"Y aquí llegamos al corazón y clímax de esta investigación: la gran trampa de la media.</a:t>
            </a:r>
          </a:p>
          <a:p/>
          <a:p>
            <a:r>
              <a:t>Constantemente escuchamos a organismos oficiales decir que la renta media en Europa ronda los 37.000 dólares. Suena reconfortante, pero es una falacia estadística monumental.</a:t>
            </a:r>
          </a:p>
          <a:p/>
          <a:p>
            <a:r>
              <a:t>Miren la curva de distribución: presenta una brutal asimetría positiva a la derecha. ¿Qué significa esto en el mundo real?</a:t>
            </a:r>
          </a:p>
          <a:p/>
          <a:p>
            <a:r>
              <a:t>Que casi dos tercios del continente —el 64% exacto de los países europeos— viven por debajo de esa supuesta media. Unos pocos paraísos financieros de renta extrema tiran artificialmente de la media hacia arriba, distorsionando la realidad de cientos de millones de personas.</a:t>
            </a:r>
          </a:p>
          <a:p/>
          <a:p>
            <a:r>
              <a:t>La verdadera métrica de corte, la que describe al país europeo representativo, es la mediana: 24.700 dólares. Hay más de 12.000 dólares de distancia entre el discurso oficial y la realidad empírica.</a:t>
            </a:r>
          </a:p>
          <a:p/>
          <a:p>
            <a:r>
              <a:t>En el gráfico contrastamos ambas medidas con una línea azul inflada y una línea roja discontinua para la mediana, insertando una tarjeta explicativa en el propio lienzo.</a:t>
            </a:r>
          </a:p>
          <a:p/>
          <a:p>
            <a:r>
              <a:t>Esta es la perla: evaluar a Europa por su media es legislar sobre una mentira."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[4:10 - 5:00 | 50 segundos] - CIERRE Y TURNO DE PREGUNTAS</a:t>
            </a:r>
          </a:p>
          <a:p>
            <a:r>
              <a:t>"Para concluir esta historia, las tres evidencias cuantitativas nos dejan tres mandatos irrenunciables:</a:t>
            </a:r>
          </a:p>
          <a:p/>
          <a:p>
            <a:r>
              <a:t>Primero: hay que gobernar por la mediana. Si las instituciones europeas siguen midiendo la convergencia con la media aritmética de 37.000 dólares, continuarán legislando de espaldas al 64% de sus naciones miembros.</a:t>
            </a:r>
          </a:p>
          <a:p>
            <a:r>
              <a:t>Segundo: intervenir con urgencia en el corredor oriental para cerrar una brecha inadmisible de 33 a 1.</a:t>
            </a:r>
          </a:p>
          <a:p>
            <a:r>
              <a:t>Y tercero: entender que el bienestar ciudadano no es cuestión de gigantismo industrial, sino de modelo y especialización.</a:t>
            </a:r>
          </a:p>
          <a:p/>
          <a:p>
            <a:r>
              <a:t>En el plano computacional, todo el análisis es cien por cien reproducible en el script 'lab_sol.py', los gráficos cumplen el estándar de 300 DPI y declaro con total transparencia el uso asistido de Inteligencia Artificial para la verificación y optimización del código.</a:t>
            </a:r>
          </a:p>
          <a:p/>
          <a:p>
            <a:r>
              <a:t>Europa no necesita más promedios complacientes; necesita mirar de frente a sus medianas.</a:t>
            </a:r>
          </a:p>
          <a:p/>
          <a:p>
            <a:r>
              <a:t>Muchas gracias por su atención y quedo a su entera disposición para cualquier pregunta."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914400"/>
            <a:ext cx="10515600" cy="365760"/>
          </a:xfrm>
          <a:prstGeom prst="rect">
            <a:avLst/>
          </a:prstGeom>
          <a:noFill/>
        </p:spPr>
        <p:txBody>
          <a:bodyPr wrap="none">
            <a:spAutoFit/>
          </a:bodyPr>
          <a:lstStyle/>
          <a:p>
            <a:pPr>
              <a:defRPr sz="1100" b="1">
                <a:solidFill>
                  <a:srgbClr val="0284C7"/>
                </a:solidFill>
              </a:defRPr>
            </a:pPr>
            <a:r>
              <a:t>DEMO DAY 1  •  VISUALIZACIÓN Y ANÁLISIS DE DATOS (UPM)</a:t>
            </a:r>
          </a:p>
        </p:txBody>
      </p:sp>
      <p:sp>
        <p:nvSpPr>
          <p:cNvPr id="3" name="TextBox 2"/>
          <p:cNvSpPr txBox="1"/>
          <p:nvPr/>
        </p:nvSpPr>
        <p:spPr>
          <a:xfrm>
            <a:off x="822960" y="1371600"/>
            <a:ext cx="10515600" cy="2011680"/>
          </a:xfrm>
          <a:prstGeom prst="rect">
            <a:avLst/>
          </a:prstGeom>
          <a:noFill/>
        </p:spPr>
        <p:txBody>
          <a:bodyPr wrap="square">
            <a:spAutoFit/>
          </a:bodyPr>
          <a:lstStyle/>
          <a:p>
            <a:pPr>
              <a:defRPr sz="4400" b="1">
                <a:solidFill>
                  <a:srgbClr val="0F172A"/>
                </a:solidFill>
              </a:defRPr>
            </a:pPr>
            <a:r>
              <a:t>El Espejismo de la Cohesión</a:t>
            </a:r>
          </a:p>
          <a:p>
            <a:pPr>
              <a:spcBef>
                <a:spcPts val="800"/>
              </a:spcBef>
              <a:defRPr sz="1700">
                <a:solidFill>
                  <a:srgbClr val="64748B"/>
                </a:solidFill>
              </a:defRPr>
            </a:pPr>
            <a:r>
              <a:t>Tres fracturas invisibles que desmienten el mito de una Europa territorialmente equilibrada</a:t>
            </a:r>
          </a:p>
        </p:txBody>
      </p:sp>
      <p:sp>
        <p:nvSpPr>
          <p:cNvPr id="4" name="Rectangle 3"/>
          <p:cNvSpPr/>
          <p:nvPr/>
        </p:nvSpPr>
        <p:spPr>
          <a:xfrm>
            <a:off x="822960" y="3566160"/>
            <a:ext cx="10515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40480"/>
            <a:ext cx="3291840" cy="1645920"/>
          </a:xfrm>
          <a:prstGeom prst="rect">
            <a:avLst/>
          </a:prstGeom>
          <a:noFill/>
        </p:spPr>
        <p:txBody>
          <a:bodyPr wrap="square" lIns="0" rIns="0" tIns="0">
            <a:spAutoFit/>
          </a:bodyPr>
          <a:lstStyle/>
          <a:p>
            <a:pPr>
              <a:defRPr sz="1300" b="1">
                <a:solidFill>
                  <a:srgbClr val="0F172A"/>
                </a:solidFill>
              </a:defRPr>
            </a:pPr>
            <a:r>
              <a:t>01. La Frontera Invisible</a:t>
            </a:r>
          </a:p>
          <a:p>
            <a:pPr>
              <a:spcBef>
                <a:spcPts val="600"/>
              </a:spcBef>
              <a:defRPr sz="1050">
                <a:solidFill>
                  <a:srgbClr val="334155"/>
                </a:solidFill>
              </a:defRPr>
            </a:pPr>
            <a:r>
              <a:t>La dimensión espacial y la brecha extrema de 33 a 1 entre el núcleo nórdico-alpino y la periferia balcánica.</a:t>
            </a:r>
          </a:p>
        </p:txBody>
      </p:sp>
      <p:sp>
        <p:nvSpPr>
          <p:cNvPr id="6" name="TextBox 5"/>
          <p:cNvSpPr txBox="1"/>
          <p:nvPr/>
        </p:nvSpPr>
        <p:spPr>
          <a:xfrm>
            <a:off x="4480560" y="3840480"/>
            <a:ext cx="3291840" cy="1645920"/>
          </a:xfrm>
          <a:prstGeom prst="rect">
            <a:avLst/>
          </a:prstGeom>
          <a:noFill/>
        </p:spPr>
        <p:txBody>
          <a:bodyPr wrap="square" lIns="0" rIns="0" tIns="0">
            <a:spAutoFit/>
          </a:bodyPr>
          <a:lstStyle/>
          <a:p>
            <a:pPr>
              <a:defRPr sz="1300" b="1">
                <a:solidFill>
                  <a:srgbClr val="0F172A"/>
                </a:solidFill>
              </a:defRPr>
            </a:pPr>
            <a:r>
              <a:t>02. El Mito de los Gigantes</a:t>
            </a:r>
          </a:p>
          <a:p>
            <a:pPr>
              <a:spcBef>
                <a:spcPts val="600"/>
              </a:spcBef>
              <a:defRPr sz="1050">
                <a:solidFill>
                  <a:srgbClr val="334155"/>
                </a:solidFill>
              </a:defRPr>
            </a:pPr>
            <a:r>
              <a:t>La paradoja de los titanes: acumular volumen agregado de PIB no garantiza el bienestar de los ciudadanos.</a:t>
            </a:r>
          </a:p>
        </p:txBody>
      </p:sp>
      <p:sp>
        <p:nvSpPr>
          <p:cNvPr id="7" name="TextBox 6"/>
          <p:cNvSpPr txBox="1"/>
          <p:nvPr/>
        </p:nvSpPr>
        <p:spPr>
          <a:xfrm>
            <a:off x="8138160" y="3840480"/>
            <a:ext cx="3291840" cy="1645920"/>
          </a:xfrm>
          <a:prstGeom prst="rect">
            <a:avLst/>
          </a:prstGeom>
          <a:noFill/>
        </p:spPr>
        <p:txBody>
          <a:bodyPr wrap="square" lIns="0" rIns="0" tIns="0">
            <a:spAutoFit/>
          </a:bodyPr>
          <a:lstStyle/>
          <a:p>
            <a:pPr>
              <a:defRPr sz="1300" b="1">
                <a:solidFill>
                  <a:srgbClr val="0F172A"/>
                </a:solidFill>
              </a:defRPr>
            </a:pPr>
            <a:r>
              <a:t>03. La Gran Trampa Estadística</a:t>
            </a:r>
          </a:p>
          <a:p>
            <a:pPr>
              <a:spcBef>
                <a:spcPts val="600"/>
              </a:spcBef>
              <a:defRPr sz="1050">
                <a:solidFill>
                  <a:srgbClr val="334155"/>
                </a:solidFill>
              </a:defRPr>
            </a:pPr>
            <a:r>
              <a:t>El espejismo del promedio: por qué el 64% de los países europeos vive en la sombra de una media inflada.</a:t>
            </a:r>
          </a:p>
        </p:txBody>
      </p:sp>
      <p:sp>
        <p:nvSpPr>
          <p:cNvPr id="8" name="TextBox 7"/>
          <p:cNvSpPr txBox="1"/>
          <p:nvPr/>
        </p:nvSpPr>
        <p:spPr>
          <a:xfrm>
            <a:off x="822960" y="5943600"/>
            <a:ext cx="10515600" cy="365760"/>
          </a:xfrm>
          <a:prstGeom prst="rect">
            <a:avLst/>
          </a:prstGeom>
          <a:noFill/>
        </p:spPr>
        <p:txBody>
          <a:bodyPr wrap="none">
            <a:spAutoFit/>
          </a:bodyPr>
          <a:lstStyle/>
          <a:p>
            <a:pPr>
              <a:defRPr sz="1050">
                <a:solidFill>
                  <a:srgbClr val="64748B"/>
                </a:solidFill>
              </a:defRPr>
            </a:pPr>
            <a:r>
              <a:t>Autor: Javier  |  Defensa cronometrada de 5 minutos  |  Septiembre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365760"/>
            <a:ext cx="10515600" cy="274320"/>
          </a:xfrm>
          <a:prstGeom prst="rect">
            <a:avLst/>
          </a:prstGeom>
          <a:noFill/>
        </p:spPr>
        <p:txBody>
          <a:bodyPr wrap="square" lIns="0" rIns="0" tIns="0" bIns="0">
            <a:spAutoFit/>
          </a:bodyPr>
          <a:lstStyle/>
          <a:p>
            <a:pPr>
              <a:defRPr sz="1000" b="1">
                <a:solidFill>
                  <a:srgbClr val="64748B"/>
                </a:solidFill>
              </a:defRPr>
            </a:pPr>
            <a:r>
              <a:t>PRIMERA EVIDENCIA  |  DIMENSIÓN ESPACIAL CONTINENTAL</a:t>
            </a:r>
          </a:p>
        </p:txBody>
      </p:sp>
      <p:sp>
        <p:nvSpPr>
          <p:cNvPr id="3" name="TextBox 2"/>
          <p:cNvSpPr txBox="1"/>
          <p:nvPr/>
        </p:nvSpPr>
        <p:spPr>
          <a:xfrm>
            <a:off x="822960" y="621792"/>
            <a:ext cx="10515600" cy="594360"/>
          </a:xfrm>
          <a:prstGeom prst="rect">
            <a:avLst/>
          </a:prstGeom>
          <a:noFill/>
        </p:spPr>
        <p:txBody>
          <a:bodyPr wrap="square" lIns="0" rIns="0" tIns="0" bIns="0">
            <a:spAutoFit/>
          </a:bodyPr>
          <a:lstStyle/>
          <a:p>
            <a:pPr>
              <a:defRPr sz="2200" b="1">
                <a:solidFill>
                  <a:srgbClr val="0F172A"/>
                </a:solidFill>
              </a:defRPr>
            </a:pPr>
            <a:r>
              <a:t>La Riqueza se Atrinchera en el Eje Central y Nórdico</a:t>
            </a:r>
          </a:p>
        </p:txBody>
      </p:sp>
      <p:sp>
        <p:nvSpPr>
          <p:cNvPr id="4" name="TextBox 3"/>
          <p:cNvSpPr txBox="1"/>
          <p:nvPr/>
        </p:nvSpPr>
        <p:spPr>
          <a:xfrm>
            <a:off x="822960" y="1188720"/>
            <a:ext cx="10515600" cy="365760"/>
          </a:xfrm>
          <a:prstGeom prst="rect">
            <a:avLst/>
          </a:prstGeom>
          <a:noFill/>
        </p:spPr>
        <p:txBody>
          <a:bodyPr wrap="square" lIns="0" rIns="0" tIns="0" bIns="0">
            <a:spAutoFit/>
          </a:bodyPr>
          <a:lstStyle/>
          <a:p>
            <a:pPr>
              <a:defRPr sz="1150">
                <a:solidFill>
                  <a:srgbClr val="64748B"/>
                </a:solidFill>
              </a:defRPr>
            </a:pPr>
            <a:r>
              <a:t>La distribución geográfica del PIB per cápita desmiente la cohesión: el bienestar no fluye, se concentra en polos cerrados.</a:t>
            </a:r>
          </a:p>
        </p:txBody>
      </p:sp>
      <p:sp>
        <p:nvSpPr>
          <p:cNvPr id="5" name="Rectangle 4"/>
          <p:cNvSpPr/>
          <p:nvPr/>
        </p:nvSpPr>
        <p:spPr>
          <a:xfrm>
            <a:off x="822960" y="1554480"/>
            <a:ext cx="105156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afico_1_mapa_europa.png"/>
          <p:cNvPicPr>
            <a:picLocks noChangeAspect="1"/>
          </p:cNvPicPr>
          <p:nvPr/>
        </p:nvPicPr>
        <p:blipFill>
          <a:blip r:embed="rId2"/>
          <a:stretch>
            <a:fillRect/>
          </a:stretch>
        </p:blipFill>
        <p:spPr>
          <a:xfrm>
            <a:off x="822960" y="1691640"/>
            <a:ext cx="6400800" cy="4999333"/>
          </a:xfrm>
          <a:prstGeom prst="rect">
            <a:avLst/>
          </a:prstGeom>
        </p:spPr>
      </p:pic>
      <p:sp>
        <p:nvSpPr>
          <p:cNvPr id="7" name="Rounded Rectangle 6"/>
          <p:cNvSpPr/>
          <p:nvPr/>
        </p:nvSpPr>
        <p:spPr>
          <a:xfrm>
            <a:off x="7498079" y="1691640"/>
            <a:ext cx="384048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3200" b="1">
                <a:solidFill>
                  <a:srgbClr val="00629B"/>
                </a:solidFill>
              </a:defRPr>
            </a:pPr>
            <a:r>
              <a:t>&gt; $60k</a:t>
            </a:r>
          </a:p>
          <a:p>
            <a:pPr>
              <a:defRPr sz="1000">
                <a:solidFill>
                  <a:srgbClr val="64748B"/>
                </a:solidFill>
              </a:defRPr>
            </a:pPr>
            <a:r>
              <a:t>PIB per cápita en el eje próspero central-nórdico</a:t>
            </a:r>
          </a:p>
          <a:p>
            <a:pPr>
              <a:spcBef>
                <a:spcPts val="1000"/>
              </a:spcBef>
            </a:pPr>
            <a:r>
              <a:rPr b="1" sz="1050">
                <a:solidFill>
                  <a:srgbClr val="0F172A"/>
                </a:solidFill>
              </a:rPr>
              <a:t>• Dos Continentes en Uno:</a:t>
            </a:r>
            <a:r>
              <a:rPr sz="1000">
                <a:solidFill>
                  <a:srgbClr val="334155"/>
                </a:solidFill>
              </a:rPr>
              <a:t> La frontera socioeconómica separa nítidamente el núcleo nórdico-alpino de los márgenes balcánicos y orientales (&lt;$10k).</a:t>
            </a:r>
          </a:p>
          <a:p>
            <a:pPr>
              <a:spcBef>
                <a:spcPts val="1000"/>
              </a:spcBef>
            </a:pPr>
            <a:r>
              <a:rPr b="1" sz="1050">
                <a:solidFill>
                  <a:srgbClr val="0F172A"/>
                </a:solidFill>
              </a:rPr>
              <a:t>• Decisión Perceptiva (Rusia Neutra):</a:t>
            </a:r>
            <a:r>
              <a:rPr sz="1000">
                <a:solidFill>
                  <a:srgbClr val="334155"/>
                </a:solidFill>
              </a:rPr>
              <a:t> Rusia se desacopla en gris (#E2E8F0) para impedir que su colosal masa territorial falsee la escala perceptiva de las 38 naciones restantes.</a:t>
            </a:r>
          </a:p>
          <a:p>
            <a:pPr>
              <a:spcBef>
                <a:spcPts val="1000"/>
              </a:spcBef>
            </a:pPr>
            <a:r>
              <a:rPr b="1" sz="1050">
                <a:solidFill>
                  <a:srgbClr val="0F172A"/>
                </a:solidFill>
              </a:rPr>
              <a:t>• Eliminación Total de Ruido:</a:t>
            </a:r>
            <a:r>
              <a:rPr sz="1000">
                <a:solidFill>
                  <a:srgbClr val="334155"/>
                </a:solidFill>
              </a:rPr>
              <a:t> Supresión de coordenadas y marcos superfluos (ax.set_axis_off), sustituyendo leyendas complejas por anotaciones directas.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365760"/>
            <a:ext cx="10515600" cy="274320"/>
          </a:xfrm>
          <a:prstGeom prst="rect">
            <a:avLst/>
          </a:prstGeom>
          <a:noFill/>
        </p:spPr>
        <p:txBody>
          <a:bodyPr wrap="square" lIns="0" rIns="0" tIns="0" bIns="0">
            <a:spAutoFit/>
          </a:bodyPr>
          <a:lstStyle/>
          <a:p>
            <a:pPr>
              <a:defRPr sz="1000" b="1">
                <a:solidFill>
                  <a:srgbClr val="64748B"/>
                </a:solidFill>
              </a:defRPr>
            </a:pPr>
            <a:r>
              <a:t>PRIMERA EVIDENCIA (CONT.)  |  MAGNITUD DE LA DESIGUALDAD</a:t>
            </a:r>
          </a:p>
        </p:txBody>
      </p:sp>
      <p:sp>
        <p:nvSpPr>
          <p:cNvPr id="3" name="TextBox 2"/>
          <p:cNvSpPr txBox="1"/>
          <p:nvPr/>
        </p:nvSpPr>
        <p:spPr>
          <a:xfrm>
            <a:off x="822960" y="621792"/>
            <a:ext cx="10515600" cy="594360"/>
          </a:xfrm>
          <a:prstGeom prst="rect">
            <a:avLst/>
          </a:prstGeom>
          <a:noFill/>
        </p:spPr>
        <p:txBody>
          <a:bodyPr wrap="square" lIns="0" rIns="0" tIns="0" bIns="0">
            <a:spAutoFit/>
          </a:bodyPr>
          <a:lstStyle/>
          <a:p>
            <a:pPr>
              <a:defRPr sz="2200" b="1">
                <a:solidFill>
                  <a:srgbClr val="0F172A"/>
                </a:solidFill>
              </a:defRPr>
            </a:pPr>
            <a:r>
              <a:t>Un Continente Separado por un Factor de 33 a 1</a:t>
            </a:r>
          </a:p>
        </p:txBody>
      </p:sp>
      <p:sp>
        <p:nvSpPr>
          <p:cNvPr id="4" name="TextBox 3"/>
          <p:cNvSpPr txBox="1"/>
          <p:nvPr/>
        </p:nvSpPr>
        <p:spPr>
          <a:xfrm>
            <a:off x="822960" y="1188720"/>
            <a:ext cx="10515600" cy="365760"/>
          </a:xfrm>
          <a:prstGeom prst="rect">
            <a:avLst/>
          </a:prstGeom>
          <a:noFill/>
        </p:spPr>
        <p:txBody>
          <a:bodyPr wrap="square" lIns="0" rIns="0" tIns="0" bIns="0">
            <a:spAutoFit/>
          </a:bodyPr>
          <a:lstStyle/>
          <a:p>
            <a:pPr>
              <a:defRPr sz="1150">
                <a:solidFill>
                  <a:srgbClr val="64748B"/>
                </a:solidFill>
              </a:defRPr>
            </a:pPr>
            <a:r>
              <a:t>La comparativa directa de extremos revela un abismo socioeconómico sin precedentes en el espacio europeo.</a:t>
            </a:r>
          </a:p>
        </p:txBody>
      </p:sp>
      <p:sp>
        <p:nvSpPr>
          <p:cNvPr id="5" name="Rectangle 4"/>
          <p:cNvSpPr/>
          <p:nvPr/>
        </p:nvSpPr>
        <p:spPr>
          <a:xfrm>
            <a:off x="822960" y="1554480"/>
            <a:ext cx="105156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afico_2_brecha_extremos.png"/>
          <p:cNvPicPr>
            <a:picLocks noChangeAspect="1"/>
          </p:cNvPicPr>
          <p:nvPr/>
        </p:nvPicPr>
        <p:blipFill>
          <a:blip r:embed="rId2"/>
          <a:stretch>
            <a:fillRect/>
          </a:stretch>
        </p:blipFill>
        <p:spPr>
          <a:xfrm>
            <a:off x="822960" y="1691640"/>
            <a:ext cx="6400800" cy="4017229"/>
          </a:xfrm>
          <a:prstGeom prst="rect">
            <a:avLst/>
          </a:prstGeom>
        </p:spPr>
      </p:pic>
      <p:sp>
        <p:nvSpPr>
          <p:cNvPr id="7" name="Rounded Rectangle 6"/>
          <p:cNvSpPr/>
          <p:nvPr/>
        </p:nvSpPr>
        <p:spPr>
          <a:xfrm>
            <a:off x="7498079" y="1691640"/>
            <a:ext cx="384048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3600" b="1">
                <a:solidFill>
                  <a:srgbClr val="D92121"/>
                </a:solidFill>
              </a:defRPr>
            </a:pPr>
            <a:r>
              <a:t>33.1x</a:t>
            </a:r>
          </a:p>
          <a:p>
            <a:pPr>
              <a:defRPr sz="1000">
                <a:solidFill>
                  <a:srgbClr val="64748B"/>
                </a:solidFill>
              </a:defRPr>
            </a:pPr>
            <a:r>
              <a:t>Brecha de dispersión extrema entre polos</a:t>
            </a:r>
          </a:p>
          <a:p>
            <a:pPr>
              <a:spcBef>
                <a:spcPts val="800"/>
              </a:spcBef>
            </a:pPr>
            <a:r>
              <a:rPr b="1" sz="1050">
                <a:solidFill>
                  <a:srgbClr val="D92121"/>
                </a:solidFill>
              </a:rPr>
              <a:t>• La Cifra Impacto:</a:t>
            </a:r>
            <a:r>
              <a:rPr sz="1000">
                <a:solidFill>
                  <a:srgbClr val="334155"/>
                </a:solidFill>
              </a:rPr>
              <a:t> Un ciudadano medio de Luxemburgo ($130.6k) percibe lo equivalente a 33 ciudadanos ucranianos ($3.9k).</a:t>
            </a:r>
          </a:p>
          <a:p>
            <a:pPr>
              <a:spcBef>
                <a:spcPts val="800"/>
              </a:spcBef>
            </a:pPr>
            <a:r>
              <a:rPr b="1" sz="1050">
                <a:solidFill>
                  <a:srgbClr val="0F172A"/>
                </a:solidFill>
              </a:rPr>
              <a:t>• Ergonomía de Barras Horizontales:</a:t>
            </a:r>
            <a:r>
              <a:rPr sz="1000">
                <a:solidFill>
                  <a:srgbClr val="334155"/>
                </a:solidFill>
              </a:rPr>
              <a:t> Lectura natural y fluida de las etiquetas de cada país sin forzar giros de vista.</a:t>
            </a:r>
          </a:p>
          <a:p>
            <a:pPr>
              <a:spcBef>
                <a:spcPts val="800"/>
              </a:spcBef>
            </a:pPr>
            <a:r>
              <a:rPr b="1" sz="1050">
                <a:solidFill>
                  <a:srgbClr val="0F172A"/>
                </a:solidFill>
              </a:rPr>
              <a:t>• Color Preatencional con Propósito:</a:t>
            </a:r>
            <a:r>
              <a:rPr sz="1000">
                <a:solidFill>
                  <a:srgbClr val="334155"/>
                </a:solidFill>
              </a:rPr>
              <a:t> El azul oscuro (#00629B) guía de inmediato al líder absoluto, y el rojo alerta (#D92121) señala el mínimo continental.</a:t>
            </a:r>
          </a:p>
          <a:p>
            <a:pPr>
              <a:spcBef>
                <a:spcPts val="800"/>
              </a:spcBef>
            </a:pPr>
            <a:r>
              <a:rPr b="1" sz="1050">
                <a:solidFill>
                  <a:srgbClr val="0F172A"/>
                </a:solidFill>
              </a:rPr>
              <a:t>• Tinta-Dato 100% Eficiente:</a:t>
            </a:r>
            <a:r>
              <a:rPr sz="1000">
                <a:solidFill>
                  <a:srgbClr val="334155"/>
                </a:solidFill>
              </a:rPr>
              <a:t> Supresión total del eje X y de las espinas perimetrales; cada barra está rotulada con su valor monetario exacto.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365760"/>
            <a:ext cx="10515600" cy="274320"/>
          </a:xfrm>
          <a:prstGeom prst="rect">
            <a:avLst/>
          </a:prstGeom>
          <a:noFill/>
        </p:spPr>
        <p:txBody>
          <a:bodyPr wrap="square" lIns="0" rIns="0" tIns="0" bIns="0">
            <a:spAutoFit/>
          </a:bodyPr>
          <a:lstStyle/>
          <a:p>
            <a:pPr>
              <a:defRPr sz="1000" b="1">
                <a:solidFill>
                  <a:srgbClr val="64748B"/>
                </a:solidFill>
              </a:defRPr>
            </a:pPr>
            <a:r>
              <a:t>SEGUNDA EVIDENCIA  |  ESCALA ECONÓMICA VS. BIENESTAR INDIVIDUAL</a:t>
            </a:r>
          </a:p>
        </p:txBody>
      </p:sp>
      <p:sp>
        <p:nvSpPr>
          <p:cNvPr id="3" name="TextBox 2"/>
          <p:cNvSpPr txBox="1"/>
          <p:nvPr/>
        </p:nvSpPr>
        <p:spPr>
          <a:xfrm>
            <a:off x="822960" y="621792"/>
            <a:ext cx="10515600" cy="594360"/>
          </a:xfrm>
          <a:prstGeom prst="rect">
            <a:avLst/>
          </a:prstGeom>
          <a:noFill/>
        </p:spPr>
        <p:txBody>
          <a:bodyPr wrap="square" lIns="0" rIns="0" tIns="0" bIns="0">
            <a:spAutoFit/>
          </a:bodyPr>
          <a:lstStyle/>
          <a:p>
            <a:pPr>
              <a:defRPr sz="2200" b="1">
                <a:solidFill>
                  <a:srgbClr val="0F172A"/>
                </a:solidFill>
              </a:defRPr>
            </a:pPr>
            <a:r>
              <a:t>La Falacia del Volumen: El Tamaño no Compra Prosperidad</a:t>
            </a:r>
          </a:p>
        </p:txBody>
      </p:sp>
      <p:sp>
        <p:nvSpPr>
          <p:cNvPr id="4" name="TextBox 3"/>
          <p:cNvSpPr txBox="1"/>
          <p:nvPr/>
        </p:nvSpPr>
        <p:spPr>
          <a:xfrm>
            <a:off x="822960" y="1188720"/>
            <a:ext cx="10515600" cy="365760"/>
          </a:xfrm>
          <a:prstGeom prst="rect">
            <a:avLst/>
          </a:prstGeom>
          <a:noFill/>
        </p:spPr>
        <p:txBody>
          <a:bodyPr wrap="square" lIns="0" rIns="0" tIns="0" bIns="0">
            <a:spAutoFit/>
          </a:bodyPr>
          <a:lstStyle/>
          <a:p>
            <a:pPr>
              <a:defRPr sz="1150">
                <a:solidFill>
                  <a:srgbClr val="64748B"/>
                </a:solidFill>
              </a:defRPr>
            </a:pPr>
            <a:r>
              <a:t>La relación entre masa demográfica, PIB total y bienestar individual demuestra una clara disociación estructural.</a:t>
            </a:r>
          </a:p>
        </p:txBody>
      </p:sp>
      <p:sp>
        <p:nvSpPr>
          <p:cNvPr id="5" name="Rectangle 4"/>
          <p:cNvSpPr/>
          <p:nvPr/>
        </p:nvSpPr>
        <p:spPr>
          <a:xfrm>
            <a:off x="822960" y="1554480"/>
            <a:ext cx="105156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afico_3_dispersion_pib_poblacion.png"/>
          <p:cNvPicPr>
            <a:picLocks noChangeAspect="1"/>
          </p:cNvPicPr>
          <p:nvPr/>
        </p:nvPicPr>
        <p:blipFill>
          <a:blip r:embed="rId2"/>
          <a:stretch>
            <a:fillRect/>
          </a:stretch>
        </p:blipFill>
        <p:spPr>
          <a:xfrm>
            <a:off x="822960" y="1691640"/>
            <a:ext cx="6400800" cy="4429708"/>
          </a:xfrm>
          <a:prstGeom prst="rect">
            <a:avLst/>
          </a:prstGeom>
        </p:spPr>
      </p:pic>
      <p:sp>
        <p:nvSpPr>
          <p:cNvPr id="7" name="Rounded Rectangle 6"/>
          <p:cNvSpPr/>
          <p:nvPr/>
        </p:nvSpPr>
        <p:spPr>
          <a:xfrm>
            <a:off x="7498079" y="1691640"/>
            <a:ext cx="384048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3000" b="1">
                <a:solidFill>
                  <a:srgbClr val="0284C7"/>
                </a:solidFill>
              </a:defRPr>
            </a:pPr>
            <a:r>
              <a:t>0 Correlación</a:t>
            </a:r>
          </a:p>
          <a:p>
            <a:pPr>
              <a:defRPr sz="1000">
                <a:solidFill>
                  <a:srgbClr val="64748B"/>
                </a:solidFill>
              </a:defRPr>
            </a:pPr>
            <a:r>
              <a:t>Entre masa demográfica bruta y renta por habitante</a:t>
            </a:r>
          </a:p>
          <a:p>
            <a:pPr>
              <a:spcBef>
                <a:spcPts val="800"/>
              </a:spcBef>
            </a:pPr>
            <a:r>
              <a:rPr b="1" sz="1050">
                <a:solidFill>
                  <a:srgbClr val="0F172A"/>
                </a:solidFill>
              </a:rPr>
              <a:t>• La Ilusión de los Gigantes:</a:t>
            </a:r>
            <a:r>
              <a:rPr sz="1000">
                <a:solidFill>
                  <a:srgbClr val="334155"/>
                </a:solidFill>
              </a:rPr>
              <a:t> Alemania, Francia, Reino Unido, Italia y Rusia acumulan el volumen global de producción, pero quedan relegados en renta per cápita.</a:t>
            </a:r>
          </a:p>
          <a:p>
            <a:pPr>
              <a:spcBef>
                <a:spcPts val="800"/>
              </a:spcBef>
            </a:pPr>
            <a:r>
              <a:rPr b="1" sz="1050">
                <a:solidFill>
                  <a:srgbClr val="0F172A"/>
                </a:solidFill>
              </a:rPr>
              <a:t>• Los Campeones Compactos:</a:t>
            </a:r>
            <a:r>
              <a:rPr sz="1000">
                <a:solidFill>
                  <a:srgbClr val="334155"/>
                </a:solidFill>
              </a:rPr>
              <a:t> Estados intermedios y pequeños (Suiza, Luxemburgo, Noruega, Irlanda) alcanzan la cota cromática más alta de bienestar por su alta especialización.</a:t>
            </a:r>
          </a:p>
          <a:p>
            <a:pPr>
              <a:spcBef>
                <a:spcPts val="800"/>
              </a:spcBef>
            </a:pPr>
            <a:r>
              <a:rPr b="1" sz="1050">
                <a:solidFill>
                  <a:srgbClr val="0F172A"/>
                </a:solidFill>
              </a:rPr>
              <a:t>• Etiquetado Preatencional Selectivo:</a:t>
            </a:r>
            <a:r>
              <a:rPr sz="1000">
                <a:solidFill>
                  <a:srgbClr val="334155"/>
                </a:solidFill>
              </a:rPr>
              <a:t> Se evita el solapamiento caótico rotulando únicamente 9 naciones arquetípicas con conectores sutiles.</a:t>
            </a:r>
          </a:p>
          <a:p>
            <a:pPr>
              <a:spcBef>
                <a:spcPts val="800"/>
              </a:spcBef>
            </a:pPr>
            <a:r>
              <a:rPr b="1" sz="1050">
                <a:solidFill>
                  <a:srgbClr val="0F172A"/>
                </a:solidFill>
              </a:rPr>
              <a:t>• Despine Sistemático:</a:t>
            </a:r>
            <a:r>
              <a:rPr sz="1000">
                <a:solidFill>
                  <a:srgbClr val="334155"/>
                </a:solidFill>
              </a:rPr>
              <a:t> Eliminación de bordes superior y derecho para centrar la mirada en el cuadrante de dispersión económica.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365760"/>
            <a:ext cx="10515600" cy="274320"/>
          </a:xfrm>
          <a:prstGeom prst="rect">
            <a:avLst/>
          </a:prstGeom>
          <a:noFill/>
        </p:spPr>
        <p:txBody>
          <a:bodyPr wrap="square" lIns="0" rIns="0" tIns="0" bIns="0">
            <a:spAutoFit/>
          </a:bodyPr>
          <a:lstStyle/>
          <a:p>
            <a:pPr>
              <a:defRPr sz="1000" b="1">
                <a:solidFill>
                  <a:srgbClr val="64748B"/>
                </a:solidFill>
              </a:defRPr>
            </a:pPr>
            <a:r>
              <a:t>TERCERA EVIDENCIA (EL CLÍMAX)  |  RIGOR Y SESGO DISTRIBUTIVO</a:t>
            </a:r>
          </a:p>
        </p:txBody>
      </p:sp>
      <p:sp>
        <p:nvSpPr>
          <p:cNvPr id="3" name="TextBox 2"/>
          <p:cNvSpPr txBox="1"/>
          <p:nvPr/>
        </p:nvSpPr>
        <p:spPr>
          <a:xfrm>
            <a:off x="822960" y="621792"/>
            <a:ext cx="10515600" cy="594360"/>
          </a:xfrm>
          <a:prstGeom prst="rect">
            <a:avLst/>
          </a:prstGeom>
          <a:noFill/>
        </p:spPr>
        <p:txBody>
          <a:bodyPr wrap="square" lIns="0" rIns="0" tIns="0" bIns="0">
            <a:spAutoFit/>
          </a:bodyPr>
          <a:lstStyle/>
          <a:p>
            <a:pPr>
              <a:defRPr sz="2200" b="1">
                <a:solidFill>
                  <a:srgbClr val="0F172A"/>
                </a:solidFill>
              </a:defRPr>
            </a:pPr>
            <a:r>
              <a:t>La Gran Mentira del Promedio: El 64% Vive en la Sombra</a:t>
            </a:r>
          </a:p>
        </p:txBody>
      </p:sp>
      <p:sp>
        <p:nvSpPr>
          <p:cNvPr id="4" name="TextBox 3"/>
          <p:cNvSpPr txBox="1"/>
          <p:nvPr/>
        </p:nvSpPr>
        <p:spPr>
          <a:xfrm>
            <a:off x="822960" y="1188720"/>
            <a:ext cx="10515600" cy="365760"/>
          </a:xfrm>
          <a:prstGeom prst="rect">
            <a:avLst/>
          </a:prstGeom>
          <a:noFill/>
        </p:spPr>
        <p:txBody>
          <a:bodyPr wrap="square" lIns="0" rIns="0" tIns="0" bIns="0">
            <a:spAutoFit/>
          </a:bodyPr>
          <a:lstStyle/>
          <a:p>
            <a:pPr>
              <a:defRPr sz="1150">
                <a:solidFill>
                  <a:srgbClr val="64748B"/>
                </a:solidFill>
              </a:defRPr>
            </a:pPr>
            <a:r>
              <a:t>La distribución asimétrica del bienestar demuestra que la media inflada es una ficción que desvirtúa las decisiones públicas.</a:t>
            </a:r>
          </a:p>
        </p:txBody>
      </p:sp>
      <p:sp>
        <p:nvSpPr>
          <p:cNvPr id="5" name="Rectangle 4"/>
          <p:cNvSpPr/>
          <p:nvPr/>
        </p:nvSpPr>
        <p:spPr>
          <a:xfrm>
            <a:off x="822960" y="1554480"/>
            <a:ext cx="105156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afico_4_distribucion_sesgo.png"/>
          <p:cNvPicPr>
            <a:picLocks noChangeAspect="1"/>
          </p:cNvPicPr>
          <p:nvPr/>
        </p:nvPicPr>
        <p:blipFill>
          <a:blip r:embed="rId2"/>
          <a:stretch>
            <a:fillRect/>
          </a:stretch>
        </p:blipFill>
        <p:spPr>
          <a:xfrm>
            <a:off x="822960" y="1691640"/>
            <a:ext cx="6400800" cy="4011821"/>
          </a:xfrm>
          <a:prstGeom prst="rect">
            <a:avLst/>
          </a:prstGeom>
        </p:spPr>
      </p:pic>
      <p:sp>
        <p:nvSpPr>
          <p:cNvPr id="7" name="Rounded Rectangle 6"/>
          <p:cNvSpPr/>
          <p:nvPr/>
        </p:nvSpPr>
        <p:spPr>
          <a:xfrm>
            <a:off x="7498079" y="1691640"/>
            <a:ext cx="384048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3600" b="1">
                <a:solidFill>
                  <a:srgbClr val="D92121"/>
                </a:solidFill>
              </a:defRPr>
            </a:pPr>
            <a:r>
              <a:t>64%</a:t>
            </a:r>
          </a:p>
          <a:p>
            <a:pPr>
              <a:defRPr sz="1000">
                <a:solidFill>
                  <a:srgbClr val="64748B"/>
                </a:solidFill>
              </a:defRPr>
            </a:pPr>
            <a:r>
              <a:t>de las naciones europeas están bajo la media continental</a:t>
            </a:r>
          </a:p>
          <a:p>
            <a:pPr>
              <a:spcBef>
                <a:spcPts val="800"/>
              </a:spcBef>
            </a:pPr>
            <a:r>
              <a:rPr b="1" sz="1050">
                <a:solidFill>
                  <a:srgbClr val="0F172A"/>
                </a:solidFill>
              </a:rPr>
              <a:t>• La Media Inflada ($36.9k):</a:t>
            </a:r>
            <a:r>
              <a:rPr sz="1000">
                <a:solidFill>
                  <a:srgbClr val="334155"/>
                </a:solidFill>
              </a:rPr>
              <a:t> Un promedio artificialmente sesgado por un puñado de plazas financieras (Luxemburgo, Suiza) que arrastran el cálculo hacia arriba.</a:t>
            </a:r>
          </a:p>
          <a:p>
            <a:pPr>
              <a:spcBef>
                <a:spcPts val="800"/>
              </a:spcBef>
            </a:pPr>
            <a:r>
              <a:rPr b="1" sz="1050">
                <a:solidFill>
                  <a:srgbClr val="D92121"/>
                </a:solidFill>
              </a:rPr>
              <a:t>• La Mediana Real ($24.7k):</a:t>
            </a:r>
            <a:r>
              <a:rPr sz="1000">
                <a:solidFill>
                  <a:srgbClr val="334155"/>
                </a:solidFill>
              </a:rPr>
              <a:t> La verdadera mitad del continente percibe $12,200 dólares menos al año de lo que aseguran los titulares agregados.</a:t>
            </a:r>
          </a:p>
          <a:p>
            <a:pPr>
              <a:spcBef>
                <a:spcPts val="800"/>
              </a:spcBef>
            </a:pPr>
            <a:r>
              <a:rPr b="1" sz="1050">
                <a:solidFill>
                  <a:srgbClr val="0F172A"/>
                </a:solidFill>
              </a:rPr>
              <a:t>• Asimetría Positiva (Right-Skewed):</a:t>
            </a:r>
            <a:r>
              <a:rPr sz="1000">
                <a:solidFill>
                  <a:srgbClr val="334155"/>
                </a:solidFill>
              </a:rPr>
              <a:t> La curva KDE confirma empíricamente que casi dos tercios del continente se aglutinan en la cola baja y media.</a:t>
            </a:r>
          </a:p>
          <a:p>
            <a:pPr>
              <a:spcBef>
                <a:spcPts val="800"/>
              </a:spcBef>
            </a:pPr>
            <a:r>
              <a:rPr b="1" sz="1050">
                <a:solidFill>
                  <a:srgbClr val="0F172A"/>
                </a:solidFill>
              </a:rPr>
              <a:t>• Doble Marcador Preatencional:</a:t>
            </a:r>
            <a:r>
              <a:rPr sz="1000">
                <a:solidFill>
                  <a:srgbClr val="334155"/>
                </a:solidFill>
              </a:rPr>
              <a:t> Línea discontinua roja para la mediana representativa vs. línea continua azul para la media inflada con tarjeta explicativa embebida.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822960" y="365760"/>
            <a:ext cx="10515600" cy="274320"/>
          </a:xfrm>
          <a:prstGeom prst="rect">
            <a:avLst/>
          </a:prstGeom>
          <a:noFill/>
        </p:spPr>
        <p:txBody>
          <a:bodyPr wrap="square" lIns="0" rIns="0" tIns="0" bIns="0">
            <a:spAutoFit/>
          </a:bodyPr>
          <a:lstStyle/>
          <a:p>
            <a:pPr>
              <a:defRPr sz="1000" b="1">
                <a:solidFill>
                  <a:srgbClr val="64748B"/>
                </a:solidFill>
              </a:defRPr>
            </a:pPr>
            <a:r>
              <a:t>DESENLACE Y EPÍLOGO  |  DE LA EVIDENCIA EMPÍRICA A LA DECISIÓN</a:t>
            </a:r>
          </a:p>
        </p:txBody>
      </p:sp>
      <p:sp>
        <p:nvSpPr>
          <p:cNvPr id="3" name="TextBox 2"/>
          <p:cNvSpPr txBox="1"/>
          <p:nvPr/>
        </p:nvSpPr>
        <p:spPr>
          <a:xfrm>
            <a:off x="822960" y="621792"/>
            <a:ext cx="10515600" cy="594360"/>
          </a:xfrm>
          <a:prstGeom prst="rect">
            <a:avLst/>
          </a:prstGeom>
          <a:noFill/>
        </p:spPr>
        <p:txBody>
          <a:bodyPr wrap="square" lIns="0" rIns="0" tIns="0" bIns="0">
            <a:spAutoFit/>
          </a:bodyPr>
          <a:lstStyle/>
          <a:p>
            <a:pPr>
              <a:defRPr sz="2200" b="1">
                <a:solidFill>
                  <a:srgbClr val="0F172A"/>
                </a:solidFill>
              </a:defRPr>
            </a:pPr>
            <a:r>
              <a:t>Rediseñar la Brújula: Tres Mandatos para las Políticas de Cohesión</a:t>
            </a:r>
          </a:p>
        </p:txBody>
      </p:sp>
      <p:sp>
        <p:nvSpPr>
          <p:cNvPr id="4" name="TextBox 3"/>
          <p:cNvSpPr txBox="1"/>
          <p:nvPr/>
        </p:nvSpPr>
        <p:spPr>
          <a:xfrm>
            <a:off x="822960" y="1188720"/>
            <a:ext cx="10515600" cy="365760"/>
          </a:xfrm>
          <a:prstGeom prst="rect">
            <a:avLst/>
          </a:prstGeom>
          <a:noFill/>
        </p:spPr>
        <p:txBody>
          <a:bodyPr wrap="square" lIns="0" rIns="0" tIns="0" bIns="0">
            <a:spAutoFit/>
          </a:bodyPr>
          <a:lstStyle/>
          <a:p>
            <a:pPr>
              <a:defRPr sz="1150">
                <a:solidFill>
                  <a:srgbClr val="64748B"/>
                </a:solidFill>
              </a:defRPr>
            </a:pPr>
            <a:r>
              <a:t>La evidencia empírica desmiente la narrativa oficial y exige pasar de los promedios ficticios a la acción territorial.</a:t>
            </a:r>
          </a:p>
        </p:txBody>
      </p:sp>
      <p:sp>
        <p:nvSpPr>
          <p:cNvPr id="5" name="Rectangle 4"/>
          <p:cNvSpPr/>
          <p:nvPr/>
        </p:nvSpPr>
        <p:spPr>
          <a:xfrm>
            <a:off x="822960" y="1554480"/>
            <a:ext cx="105156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33375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300" b="1">
                <a:solidFill>
                  <a:srgbClr val="00629B"/>
                </a:solidFill>
              </a:defRPr>
            </a:pPr>
            <a:r>
              <a:t>01. Gobernar por la Mediana ($24.7k)</a:t>
            </a:r>
          </a:p>
          <a:p>
            <a:pPr>
              <a:spcBef>
                <a:spcPts val="800"/>
              </a:spcBef>
              <a:defRPr sz="1050">
                <a:solidFill>
                  <a:srgbClr val="334155"/>
                </a:solidFill>
              </a:defRPr>
            </a:pPr>
            <a:r>
              <a:t>Sustituir la media aritmética como baremo de corte en fondos de convergencia (FEDER). Calibrar subsidios sobre la media continental condena a la invisibilidad al 64% del territorio europeo que vive por debajo de ese umbral.</a:t>
            </a:r>
          </a:p>
        </p:txBody>
      </p:sp>
      <p:sp>
        <p:nvSpPr>
          <p:cNvPr id="7" name="Rounded Rectangle 6"/>
          <p:cNvSpPr/>
          <p:nvPr/>
        </p:nvSpPr>
        <p:spPr>
          <a:xfrm>
            <a:off x="4434840" y="1828800"/>
            <a:ext cx="33375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300" b="1">
                <a:solidFill>
                  <a:srgbClr val="D92121"/>
                </a:solidFill>
              </a:defRPr>
            </a:pPr>
            <a:r>
              <a:t>02. Cerrar la Brecha Oriental (Ratio 33:1)</a:t>
            </a:r>
          </a:p>
          <a:p>
            <a:pPr>
              <a:spcBef>
                <a:spcPts val="800"/>
              </a:spcBef>
              <a:defRPr sz="1050">
                <a:solidFill>
                  <a:srgbClr val="334155"/>
                </a:solidFill>
              </a:defRPr>
            </a:pPr>
            <a:r>
              <a:t>Concentrar la inversión de choque en infraestructuras y transición productiva en los Balcanes y el corredor oriental. Ningún proyecto de integración comunitaria es viable con una fractura económica de 33 a 1 entre ciudadanos.</a:t>
            </a:r>
          </a:p>
        </p:txBody>
      </p:sp>
      <p:sp>
        <p:nvSpPr>
          <p:cNvPr id="8" name="Rounded Rectangle 7"/>
          <p:cNvSpPr/>
          <p:nvPr/>
        </p:nvSpPr>
        <p:spPr>
          <a:xfrm>
            <a:off x="8046720" y="1828800"/>
            <a:ext cx="3337560"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300" b="1">
                <a:solidFill>
                  <a:srgbClr val="0284C7"/>
                </a:solidFill>
              </a:defRPr>
            </a:pPr>
            <a:r>
              <a:t>03. Productividad sobre Tamaño Agregado</a:t>
            </a:r>
          </a:p>
          <a:p>
            <a:pPr>
              <a:spcBef>
                <a:spcPts val="800"/>
              </a:spcBef>
              <a:defRPr sz="1050">
                <a:solidFill>
                  <a:srgbClr val="334155"/>
                </a:solidFill>
              </a:defRPr>
            </a:pPr>
            <a:r>
              <a:t>Superar el espejismo del PIB bruto: las mayores potencias en masa económica no lideran en bienestar real. La calidad de vida de un país es el resultado de la especialización inteligente y la fortaleza institucional.</a:t>
            </a:r>
          </a:p>
        </p:txBody>
      </p:sp>
      <p:sp>
        <p:nvSpPr>
          <p:cNvPr id="9" name="Rounded Rectangle 8"/>
          <p:cNvSpPr/>
          <p:nvPr/>
        </p:nvSpPr>
        <p:spPr>
          <a:xfrm>
            <a:off x="822960" y="5349240"/>
            <a:ext cx="10561320" cy="1051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r>
              <a:rPr sz="1100" b="1">
                <a:solidFill>
                  <a:srgbClr val="0F172A"/>
                </a:solidFill>
              </a:rPr>
              <a:t>“Europa no puede seguir calibrando su cohesión con promedios que solo representan a una minoría. Mirar a la mediana es mirar a la realidad.”
</a:t>
            </a:r>
            <a:r>
              <a:rPr sz="950">
                <a:solidFill>
                  <a:srgbClr val="64748B"/>
                </a:solidFill>
              </a:rPr>
              <a:t>Pipeline reproducible en Python (lab_sol.py)  •  Dataset GeoJSON 39 naciones  •  Uso asistido de IA declarado para optimización  •  Turno de preguntas abierto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