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9728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0F172A"/>
                </a:solidFill>
              </a:defRPr>
            </a:pPr>
            <a:r>
              <a:t>Observatorio de Cohesión y Convergencia Europea</a:t>
            </a:r>
          </a:p>
          <a:p>
            <a:pPr>
              <a:spcAft>
                <a:spcPts val="1200"/>
              </a:spcAft>
              <a:defRPr sz="1800">
                <a:solidFill>
                  <a:srgbClr val="1E3A8A"/>
                </a:solidFill>
              </a:defRPr>
            </a:pPr>
            <a:r>
              <a:t>Diagnóstico Geoespacial y Dinámica Temporal Interactiva (2000–2024)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Cuadro de mando en Plotly Dash nativo con soporte a la decisión estratégica y análisis de convergencia territorial.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0"/>
            <a:ext cx="106984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023360"/>
            <a:ext cx="10149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2563EB"/>
                </a:solidFill>
              </a:defRPr>
            </a:pPr>
            <a:r>
              <a:t>DEMO DAY 2: EL SALTO AL DESARROLLO INTERACTIVO (70% EVALUACIÓN)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Asignatura: Visualización y Análisis de Datos (VAD) — Universidad Politécnica de Madrid (UPM)</a:t>
            </a:r>
            <a:br/>
            <a:r>
              <a:t>• Autor: Javier Ferreño</a:t>
            </a:r>
            <a:br/>
            <a:r>
              <a:t>• Tecnologías: Plotly Dash nativo, Folium (Geoespacial HTML), Pandas/GeoPandas y Docker</a:t>
            </a:r>
            <a:br/>
            <a:r>
              <a:t>• Despliegue Público Activo en Render: https://vad-u2iv.onrender.com/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DEFINICIÓN DEL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¿Se está cerrando la brecha territorial en Europa?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Formulación de la pregunta de negocio y marco de soporte a la decisión de fondos públicos.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28416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287121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2563EB"/>
                </a:solidFill>
              </a:defRPr>
            </a:pPr>
            <a:r>
              <a:t>🎯 PREGUNTA CENTRAL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¿Se está cerrando la brecha de prosperidad entre el Norte/Occidente y el Sur/Este de Europa?</a:t>
            </a:r>
            <a:br/>
            <a:br/>
            <a:r>
              <a:t>El dashboard analiza si la política de cohesión comunitaria ha acelerado la convergencia real o si persisten bolsas estructurales de desigualdad territorial.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828800"/>
            <a:ext cx="3328416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6008" y="2057400"/>
            <a:ext cx="287121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10B981"/>
                </a:solidFill>
              </a:defRPr>
            </a:pPr>
            <a:r>
              <a:t>👥 PÚBLICO OBJETIVO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Planificadores de políticas públicas, comisiones de cohesión de la Unión Europea y directores de fondos estructurales.</a:t>
            </a:r>
            <a:br/>
            <a:br/>
            <a:r>
              <a:t>Diseñado para responder a las preguntas prioritarias en menos de 10 segundos con lectura visual inmediata.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3296" y="1828800"/>
            <a:ext cx="3328416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11896" y="2057400"/>
            <a:ext cx="287121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F59E0B"/>
                </a:solidFill>
              </a:defRPr>
            </a:pPr>
            <a:r>
              <a:t>📊 DECISIÓN QUE APOYA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Asignación focalizada de presupuestos de inversión:</a:t>
            </a:r>
            <a:br/>
            <a:br/>
            <a:r>
              <a:t>Priorizar transferencias hacia I+D tecnológica, modernización sanitaria y descarbonización renovable en regiones en transición para evitar trampas de desarrollo.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ARQUITECTURA Y DESARROLLO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Servidor Dash Nativo y Reactividad Dinámica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Diseño modular, interactividad continua y controles sincronizados en tiempo real.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2563EB"/>
                </a:solidFill>
              </a:defRPr>
            </a:pPr>
            <a:r>
              <a:t>PILARES DE LA ARQUITECTURA TÉCNICA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Plotly Dash Nativo: Servidor WSGI sobre Flask con componentes Bootswatch Flatly y FontAwesome.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Análisis Geoespacial en Folium: Mapas encapsulados en iframe con coropletas continuas y popups HTML interactivos.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Línea Temporal con Reproductor Automático: Botones Play/Pausa e intervalo reactivo (1.2s/año) para observar la evolución temporal fluida.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Callbacks Reactivos en Cascada: Filtro de macrorregión que actualiza en tiempo real los países disponibles y tarjetas de KPIs.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Despliegue Multi-Entorno: Contenerizado en Docker y disponible en vivo en la nube en Render.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05740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2563EB"/>
                </a:solidFill>
              </a:defRPr>
            </a:pPr>
            <a:r>
              <a:t>FLUJO DE REACTIVIDAD (SHNEIDERMAN)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1. Overview First: Panel de filtros globales (Año 2000–2024, Macrorregión, País, Métrica).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2. Zoom &amp; Filter: Al pulsar 'Play', el dashboard avanza año a año actualizando la coropleta y los KPIs superiores.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3. Details-on-Demand: Clic en cualquier país en el mapa para abrir popup HTML con desglose de PIB, longevidad, I+D y desempleo.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4. Enlace Bidireccional: La pestaña temporal (Plotly) vincula el país seleccionado con su serie histórica frente a la media europea.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PESTAÑA 1 · ANÁLISIS ESPACIAL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Distribución Geoespacial y Reducción de Brecha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Mapas coropléticos continuos con popups informativos y ranking territorial sincronizado.</a:t>
            </a:r>
          </a:p>
        </p:txBody>
      </p:sp>
      <p:pic>
        <p:nvPicPr>
          <p:cNvPr id="6" name="Picture 5" descr="figura_1_mapa_convergen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6217920" cy="41452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223760" y="1828800"/>
            <a:ext cx="42062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52360" y="2057400"/>
            <a:ext cx="3749039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2563EB"/>
                </a:solidFill>
              </a:defRPr>
            </a:pPr>
            <a:r>
              <a:t>EVIDENCIAS GEOESPACIALES CLAVE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• Reducción de Brecha Territorial:</a:t>
            </a:r>
            <a:br/>
            <a:r>
              <a:t>  La ratio P90/P10 de PIB per cápita se ha reducido de 4.2x (año 2000) a 2.4x (año 2024), demostrando convergencia comunitaria real.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• El Salto de Europa del Este:</a:t>
            </a:r>
            <a:br/>
            <a:r>
              <a:t>  Países como Chequia, Polonia y los Bálticos han duplicado su poder adquisitivo medio, acortando distancias con el núcleo occidental.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• Persistencia del Desfase Sur-Norte:</a:t>
            </a:r>
            <a:br/>
            <a:r>
              <a:t>  El Sur de Europa experimentó estancamiento post-2008, recuperando ritmo a través de la inversión en transición renovable.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PESTAÑA 2 · DINÁMICA TEMPORAL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Relación Multivariante Gapminder y Series Históricas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Correlación logarítmica entre PIB per cápita, longevidad y tamaño poblacional.</a:t>
            </a:r>
          </a:p>
        </p:txBody>
      </p:sp>
      <p:pic>
        <p:nvPicPr>
          <p:cNvPr id="6" name="Picture 5" descr="figura_2_dinamica_gapmi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6217920" cy="40416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223760" y="1828800"/>
            <a:ext cx="42062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52360" y="2057400"/>
            <a:ext cx="3749039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10B981"/>
                </a:solidFill>
              </a:defRPr>
            </a:pPr>
            <a:r>
              <a:t>DINÁMICA MULTIVARIANTE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• Curva de Rendimientos Decrecientes:</a:t>
            </a:r>
            <a:br/>
            <a:r>
              <a:t>  Existe una correlación logarítmica fuerte: a partir de $40,000 pc, cada año extra de longevidad exige inversiones exponenciales en I+D sanitaria.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• Convergencia en Esperanza de Vida:</a:t>
            </a:r>
            <a:br/>
            <a:r>
              <a:t>  La dispersión en longevidad se ha cerrado mucho más rápido que la de ingresos: todos los países analizados superan ya los 76 años.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• El Dividendo Renovable:</a:t>
            </a:r>
            <a:br/>
            <a:r>
              <a:t>  Los países con mayor cuota verde (Dinamarca, Suecia, España, Portugal) muestran mayor estabilidad macroeconómica frente a shocks de precios energéticos.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CONCLUSIONES Y DEFENSA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Recomendaciones Estratégicas y Ronda de Preguntas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Síntesis ejecutiva de soporte a la decisión para fondos de cohesión comunitarios.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28416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287121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2563EB"/>
                </a:solidFill>
              </a:defRPr>
            </a:pPr>
            <a:r>
              <a:t>1. DIAGNÓSTICO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Convergencia real pero desigual:</a:t>
            </a:r>
            <a:br/>
            <a:br/>
            <a:r>
              <a:t>La cohesión europea es una historia de éxito en Europa del Este, pero el Sur aún afronta barreras de productividad y desempleo juvenil.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828800"/>
            <a:ext cx="3328416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6008" y="2057400"/>
            <a:ext cx="287121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10B981"/>
                </a:solidFill>
              </a:defRPr>
            </a:pPr>
            <a:r>
              <a:t>2. RECOMENDACIÓN DE FONDOS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Condicionalidad tecnológica:</a:t>
            </a:r>
            <a:br/>
            <a:br/>
            <a:r>
              <a:t>Vincular las partidas comunitarias a alcanzar al menos un 2.5% del PIB en I+D y aceleración renovable para asegurar convergencia antes de 2035.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3296" y="1828800"/>
            <a:ext cx="3328416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11896" y="2057400"/>
            <a:ext cx="287121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F59E0B"/>
                </a:solidFill>
              </a:defRPr>
            </a:pPr>
            <a:r>
              <a:t>3. DEFENSA Y ACCESO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Aplicación 100% operativa:</a:t>
            </a:r>
            <a:br/>
            <a:br/>
            <a:r>
              <a:t>• Despliegue en Render activo</a:t>
            </a:r>
            <a:br/>
            <a:r>
              <a:t>• Código modular en lab_sol.py</a:t>
            </a:r>
            <a:br/>
            <a:r>
              <a:t>• Gráficos exportados en 300 DPI</a:t>
            </a:r>
            <a:br/>
            <a:br/>
            <a:r>
              <a:t>¿Preguntas del tribunal?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